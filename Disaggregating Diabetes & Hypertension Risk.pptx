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Old Standard TT"/>
      <p:regular r:id="rId13"/>
      <p:bold r:id="rId14"/>
      <p: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OldStandardTT-regular.fntdata"/><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OldStandardTT-italic.fntdata"/><Relationship Id="rId14" Type="http://schemas.openxmlformats.org/officeDocument/2006/relationships/font" Target="fonts/OldStandardTT-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Hey everyone, my name is Rithvik Harinath and today I'll be presenting my deaggregation of diabetes and hypertension risk.</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acf7167c7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acf7167c7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current diabetes and hypertension prevention guidelines often follow a one-size-fits all approach, generally giving more generalized advice like "spend 150 " But diabetes and hypertension prevalence varies amongst various races, which suggests that the biggest risk factors for these diseases may actually vary across groups. Sometimes it may not be optimal to prescibe exercise as a main treatment, for example, if the highest risk factor for that racial group is actually caloric intake.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acf7167c77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acf7167c7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this project, I used the NHANES dataset, which is a survey that participants across the U.S. filled out regarding their current health status. The goal is to stratify by race and look at what the most important predictors of diabetes and hypertension are for each racial group based on permutation feature importance. I used Random Forest because it has high feature stability compared to the other models I tested, and has relatively strong PR and ROC scores as you can see below.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acf7167c77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acf7167c77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First of all, we discovered various universal risk factors. Blood glucose and systlolic blood pressure are the top risk factors for diabetes and hypertension respectively, which make sense since we know they directly cause these disorders. But we also revealed some behavioral insights, mainly that sedentary behavior was the #1 behavioral risk factor for hypertension. Sitting less is overall stronger advice than exercising more based on the data, and to prevent such diseases, we should enroucrage patients to consistently stand up and move around in their lives more, by means such as standing desks.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acf7167c77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acf7167c77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 were also several population-specific risk factors we came across. Firstly, non-hispanic whites and non-mexican hispanics had lifestyle factors dominate their feature importance, including if they had smoked. This shows that anti smoking programs should be held for these groups to prevent hypertension.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acf7167c77_0_25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acf7167c77_0_25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Another factor we found is that for both diabetes and hypertension, poverty rate was in the top 3 features for mexican americans and african americans. this shows that for marginalized groups like these, systemic issues are just as important issues as typical diabetes risk factors, and should be addressed since such issues serve as a barrier for members of these groups to get the help they need. economic suport like food assistance, housing stability, and so on can greatly help reduce rates for these groups.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acf7167c7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acf7167c7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Disaggregating Diabetes &amp; Hypertension Risk</a:t>
            </a:r>
            <a:endParaRPr/>
          </a:p>
        </p:txBody>
      </p:sp>
      <p:sp>
        <p:nvSpPr>
          <p:cNvPr id="60" name="Google Shape;60;p13"/>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Rithvik Harinath</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1547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Hypertension &amp; Diabetes Prevalence Vary</a:t>
            </a:r>
            <a:endParaRPr/>
          </a:p>
        </p:txBody>
      </p:sp>
      <p:sp>
        <p:nvSpPr>
          <p:cNvPr id="66" name="Google Shape;66;p14"/>
          <p:cNvSpPr txBox="1"/>
          <p:nvPr>
            <p:ph idx="1" type="body"/>
          </p:nvPr>
        </p:nvSpPr>
        <p:spPr>
          <a:xfrm>
            <a:off x="311700" y="767925"/>
            <a:ext cx="8520600" cy="33972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sz="1600"/>
              <a:t>Current prevention guidelines are generic (DASH diet, 150 mins weekly activity)</a:t>
            </a:r>
            <a:endParaRPr sz="1600"/>
          </a:p>
          <a:p>
            <a:pPr indent="-330200" lvl="0" marL="457200" rtl="0" algn="l">
              <a:spcBef>
                <a:spcPts val="0"/>
              </a:spcBef>
              <a:spcAft>
                <a:spcPts val="0"/>
              </a:spcAft>
              <a:buSzPts val="1600"/>
              <a:buChar char="●"/>
            </a:pPr>
            <a:r>
              <a:rPr lang="en" sz="1600"/>
              <a:t>But diabetes &amp; hypertension prevalence varies across racial groups</a:t>
            </a:r>
            <a:endParaRPr sz="1600"/>
          </a:p>
          <a:p>
            <a:pPr indent="-330200" lvl="1" marL="914400" rtl="0" algn="l">
              <a:spcBef>
                <a:spcPts val="0"/>
              </a:spcBef>
              <a:spcAft>
                <a:spcPts val="0"/>
              </a:spcAft>
              <a:buSzPts val="1600"/>
              <a:buChar char="○"/>
            </a:pPr>
            <a:r>
              <a:rPr b="1" lang="en" sz="1600"/>
              <a:t>Hypertension:</a:t>
            </a:r>
            <a:r>
              <a:rPr lang="en" sz="1600"/>
              <a:t> 30.2% in Non-Hispanic Blacks vs. 14.3% in Mexican Americans</a:t>
            </a:r>
            <a:endParaRPr sz="1600"/>
          </a:p>
          <a:p>
            <a:pPr indent="-330200" lvl="1" marL="914400" rtl="0" algn="l">
              <a:spcBef>
                <a:spcPts val="0"/>
              </a:spcBef>
              <a:spcAft>
                <a:spcPts val="0"/>
              </a:spcAft>
              <a:buSzPts val="1600"/>
              <a:buChar char="○"/>
            </a:pPr>
            <a:r>
              <a:rPr b="1" lang="en" sz="1600"/>
              <a:t>Diabetes:</a:t>
            </a:r>
            <a:r>
              <a:rPr lang="en" sz="1600"/>
              <a:t> Ranges from ~7% to &gt;12% across groups.</a:t>
            </a:r>
            <a:endParaRPr sz="1600"/>
          </a:p>
          <a:p>
            <a:pPr indent="-330200" lvl="0" marL="457200" rtl="0" algn="l">
              <a:spcBef>
                <a:spcPts val="0"/>
              </a:spcBef>
              <a:spcAft>
                <a:spcPts val="0"/>
              </a:spcAft>
              <a:buSzPts val="1600"/>
              <a:buChar char="●"/>
            </a:pPr>
            <a:r>
              <a:rPr lang="en" sz="1600"/>
              <a:t>Does the same advice work for everyone? For example, if a patient’s most significant risk factor is poverty, how much does prescribing more exercise truly help them?</a:t>
            </a:r>
            <a:endParaRPr sz="1600"/>
          </a:p>
        </p:txBody>
      </p:sp>
      <p:pic>
        <p:nvPicPr>
          <p:cNvPr id="67" name="Google Shape;67;p14" title="Screenshot 2025-12-02 at 9.47.03 PM.png"/>
          <p:cNvPicPr preferRelativeResize="0"/>
          <p:nvPr/>
        </p:nvPicPr>
        <p:blipFill>
          <a:blip r:embed="rId3">
            <a:alphaModFix/>
          </a:blip>
          <a:stretch>
            <a:fillRect/>
          </a:stretch>
        </p:blipFill>
        <p:spPr>
          <a:xfrm>
            <a:off x="1397000" y="2571750"/>
            <a:ext cx="6274499" cy="23223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1482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Methodology</a:t>
            </a:r>
            <a:endParaRPr/>
          </a:p>
        </p:txBody>
      </p:sp>
      <p:sp>
        <p:nvSpPr>
          <p:cNvPr id="73" name="Google Shape;73;p15"/>
          <p:cNvSpPr txBox="1"/>
          <p:nvPr>
            <p:ph idx="1" type="body"/>
          </p:nvPr>
        </p:nvSpPr>
        <p:spPr>
          <a:xfrm>
            <a:off x="311700" y="761425"/>
            <a:ext cx="8520600" cy="33972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SzPts val="1700"/>
              <a:buChar char="●"/>
            </a:pPr>
            <a:r>
              <a:rPr lang="en" sz="1700"/>
              <a:t>Used </a:t>
            </a:r>
            <a:r>
              <a:rPr lang="en" sz="1700"/>
              <a:t>NHANES Dataset (n=11,933): Nationally Representative sample</a:t>
            </a:r>
            <a:endParaRPr sz="1700"/>
          </a:p>
          <a:p>
            <a:pPr indent="-336550" lvl="0" marL="457200" rtl="0" algn="l">
              <a:spcBef>
                <a:spcPts val="0"/>
              </a:spcBef>
              <a:spcAft>
                <a:spcPts val="0"/>
              </a:spcAft>
              <a:buSzPts val="1700"/>
              <a:buChar char="●"/>
            </a:pPr>
            <a:r>
              <a:rPr lang="en" sz="1700"/>
              <a:t>Goal: Look at most important diabetes &amp; hypertension predictors</a:t>
            </a:r>
            <a:endParaRPr sz="1700"/>
          </a:p>
          <a:p>
            <a:pPr indent="-336550" lvl="1" marL="914400" rtl="0" algn="l">
              <a:spcBef>
                <a:spcPts val="0"/>
              </a:spcBef>
              <a:spcAft>
                <a:spcPts val="0"/>
              </a:spcAft>
              <a:buSzPts val="1700"/>
              <a:buChar char="○"/>
            </a:pPr>
            <a:r>
              <a:rPr lang="en" sz="1700"/>
              <a:t>Permutation Importance</a:t>
            </a:r>
            <a:endParaRPr sz="1700"/>
          </a:p>
          <a:p>
            <a:pPr indent="-336550" lvl="0" marL="457200" rtl="0" algn="l">
              <a:spcBef>
                <a:spcPts val="0"/>
              </a:spcBef>
              <a:spcAft>
                <a:spcPts val="0"/>
              </a:spcAft>
              <a:buSzPts val="1700"/>
              <a:buChar char="●"/>
            </a:pPr>
            <a:r>
              <a:rPr lang="en" sz="1700"/>
              <a:t>Model: Random Forest (high </a:t>
            </a:r>
            <a:r>
              <a:rPr lang="en" sz="1700"/>
              <a:t>stability</a:t>
            </a:r>
            <a:r>
              <a:rPr lang="en" sz="1700"/>
              <a:t>, good PR-AUC, strong ROC-AUC scores)</a:t>
            </a:r>
            <a:endParaRPr sz="1700"/>
          </a:p>
          <a:p>
            <a:pPr indent="-336550" lvl="1" marL="914400" rtl="0" algn="l">
              <a:spcBef>
                <a:spcPts val="0"/>
              </a:spcBef>
              <a:spcAft>
                <a:spcPts val="0"/>
              </a:spcAft>
              <a:buSzPts val="1700"/>
              <a:buChar char="○"/>
            </a:pPr>
            <a:r>
              <a:rPr lang="en" sz="1700"/>
              <a:t>24 </a:t>
            </a:r>
            <a:r>
              <a:rPr lang="en" sz="1700"/>
              <a:t>features used</a:t>
            </a:r>
            <a:endParaRPr sz="1700"/>
          </a:p>
        </p:txBody>
      </p:sp>
      <p:pic>
        <p:nvPicPr>
          <p:cNvPr id="74" name="Google Shape;74;p15"/>
          <p:cNvPicPr preferRelativeResize="0"/>
          <p:nvPr/>
        </p:nvPicPr>
        <p:blipFill rotWithShape="1">
          <a:blip r:embed="rId3">
            <a:alphaModFix/>
          </a:blip>
          <a:srcRect b="0" l="0" r="0" t="0"/>
          <a:stretch/>
        </p:blipFill>
        <p:spPr>
          <a:xfrm>
            <a:off x="114000" y="2783100"/>
            <a:ext cx="2138173" cy="1596326"/>
          </a:xfrm>
          <a:prstGeom prst="rect">
            <a:avLst/>
          </a:prstGeom>
          <a:noFill/>
          <a:ln>
            <a:noFill/>
          </a:ln>
        </p:spPr>
      </p:pic>
      <p:pic>
        <p:nvPicPr>
          <p:cNvPr id="75" name="Google Shape;75;p15"/>
          <p:cNvPicPr preferRelativeResize="0"/>
          <p:nvPr/>
        </p:nvPicPr>
        <p:blipFill>
          <a:blip r:embed="rId4">
            <a:alphaModFix/>
          </a:blip>
          <a:stretch>
            <a:fillRect/>
          </a:stretch>
        </p:blipFill>
        <p:spPr>
          <a:xfrm>
            <a:off x="2381963" y="2783099"/>
            <a:ext cx="2138230" cy="1596326"/>
          </a:xfrm>
          <a:prstGeom prst="rect">
            <a:avLst/>
          </a:prstGeom>
          <a:noFill/>
          <a:ln>
            <a:noFill/>
          </a:ln>
        </p:spPr>
      </p:pic>
      <p:pic>
        <p:nvPicPr>
          <p:cNvPr id="76" name="Google Shape;76;p15"/>
          <p:cNvPicPr preferRelativeResize="0"/>
          <p:nvPr/>
        </p:nvPicPr>
        <p:blipFill>
          <a:blip r:embed="rId5">
            <a:alphaModFix/>
          </a:blip>
          <a:stretch>
            <a:fillRect/>
          </a:stretch>
        </p:blipFill>
        <p:spPr>
          <a:xfrm>
            <a:off x="4636925" y="2783095"/>
            <a:ext cx="2138173" cy="1596330"/>
          </a:xfrm>
          <a:prstGeom prst="rect">
            <a:avLst/>
          </a:prstGeom>
          <a:noFill/>
          <a:ln>
            <a:noFill/>
          </a:ln>
        </p:spPr>
      </p:pic>
      <p:pic>
        <p:nvPicPr>
          <p:cNvPr id="77" name="Google Shape;77;p15"/>
          <p:cNvPicPr preferRelativeResize="0"/>
          <p:nvPr/>
        </p:nvPicPr>
        <p:blipFill>
          <a:blip r:embed="rId6">
            <a:alphaModFix/>
          </a:blip>
          <a:stretch>
            <a:fillRect/>
          </a:stretch>
        </p:blipFill>
        <p:spPr>
          <a:xfrm>
            <a:off x="6891825" y="2783096"/>
            <a:ext cx="2138173" cy="1596330"/>
          </a:xfrm>
          <a:prstGeom prst="rect">
            <a:avLst/>
          </a:prstGeom>
          <a:noFill/>
          <a:ln>
            <a:noFill/>
          </a:ln>
        </p:spPr>
      </p:pic>
      <p:sp>
        <p:nvSpPr>
          <p:cNvPr id="78" name="Google Shape;78;p15"/>
          <p:cNvSpPr txBox="1"/>
          <p:nvPr/>
        </p:nvSpPr>
        <p:spPr>
          <a:xfrm>
            <a:off x="255075" y="4459675"/>
            <a:ext cx="1997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Old Standard TT"/>
                <a:ea typeface="Old Standard TT"/>
                <a:cs typeface="Old Standard TT"/>
                <a:sym typeface="Old Standard TT"/>
              </a:rPr>
              <a:t>PR-AUC = 0.612</a:t>
            </a:r>
            <a:endParaRPr sz="1600">
              <a:solidFill>
                <a:schemeClr val="dk1"/>
              </a:solidFill>
              <a:latin typeface="Old Standard TT"/>
              <a:ea typeface="Old Standard TT"/>
              <a:cs typeface="Old Standard TT"/>
              <a:sym typeface="Old Standard TT"/>
            </a:endParaRPr>
          </a:p>
        </p:txBody>
      </p:sp>
      <p:sp>
        <p:nvSpPr>
          <p:cNvPr id="79" name="Google Shape;79;p15"/>
          <p:cNvSpPr txBox="1"/>
          <p:nvPr/>
        </p:nvSpPr>
        <p:spPr>
          <a:xfrm>
            <a:off x="2523100" y="4459675"/>
            <a:ext cx="1997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Old Standard TT"/>
                <a:ea typeface="Old Standard TT"/>
                <a:cs typeface="Old Standard TT"/>
                <a:sym typeface="Old Standard TT"/>
              </a:rPr>
              <a:t>ROC-AUC = 0.896</a:t>
            </a:r>
            <a:endParaRPr sz="1600">
              <a:solidFill>
                <a:schemeClr val="dk1"/>
              </a:solidFill>
              <a:latin typeface="Old Standard TT"/>
              <a:ea typeface="Old Standard TT"/>
              <a:cs typeface="Old Standard TT"/>
              <a:sym typeface="Old Standard TT"/>
            </a:endParaRPr>
          </a:p>
        </p:txBody>
      </p:sp>
      <p:sp>
        <p:nvSpPr>
          <p:cNvPr id="80" name="Google Shape;80;p15"/>
          <p:cNvSpPr txBox="1"/>
          <p:nvPr/>
        </p:nvSpPr>
        <p:spPr>
          <a:xfrm>
            <a:off x="4791113" y="4459675"/>
            <a:ext cx="1997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Old Standard TT"/>
                <a:ea typeface="Old Standard TT"/>
                <a:cs typeface="Old Standard TT"/>
                <a:sym typeface="Old Standard TT"/>
              </a:rPr>
              <a:t>PR</a:t>
            </a:r>
            <a:r>
              <a:rPr lang="en" sz="1600">
                <a:solidFill>
                  <a:schemeClr val="dk1"/>
                </a:solidFill>
                <a:latin typeface="Old Standard TT"/>
                <a:ea typeface="Old Standard TT"/>
                <a:cs typeface="Old Standard TT"/>
                <a:sym typeface="Old Standard TT"/>
              </a:rPr>
              <a:t>-AUC = 0.554</a:t>
            </a:r>
            <a:endParaRPr sz="1600">
              <a:solidFill>
                <a:schemeClr val="dk1"/>
              </a:solidFill>
              <a:latin typeface="Old Standard TT"/>
              <a:ea typeface="Old Standard TT"/>
              <a:cs typeface="Old Standard TT"/>
              <a:sym typeface="Old Standard TT"/>
            </a:endParaRPr>
          </a:p>
        </p:txBody>
      </p:sp>
      <p:sp>
        <p:nvSpPr>
          <p:cNvPr id="81" name="Google Shape;81;p15"/>
          <p:cNvSpPr txBox="1"/>
          <p:nvPr/>
        </p:nvSpPr>
        <p:spPr>
          <a:xfrm>
            <a:off x="6962363" y="4459675"/>
            <a:ext cx="1997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Old Standard TT"/>
                <a:ea typeface="Old Standard TT"/>
                <a:cs typeface="Old Standard TT"/>
                <a:sym typeface="Old Standard TT"/>
              </a:rPr>
              <a:t>ROC-</a:t>
            </a:r>
            <a:r>
              <a:rPr lang="en" sz="1600">
                <a:solidFill>
                  <a:schemeClr val="dk1"/>
                </a:solidFill>
                <a:latin typeface="Old Standard TT"/>
                <a:ea typeface="Old Standard TT"/>
                <a:cs typeface="Old Standard TT"/>
                <a:sym typeface="Old Standard TT"/>
              </a:rPr>
              <a:t>AUC = 0.834</a:t>
            </a:r>
            <a:endParaRPr sz="1600">
              <a:solidFill>
                <a:schemeClr val="dk1"/>
              </a:solidFill>
              <a:latin typeface="Old Standard TT"/>
              <a:ea typeface="Old Standard TT"/>
              <a:cs typeface="Old Standard TT"/>
              <a:sym typeface="Old Standard TT"/>
            </a:endParaRPr>
          </a:p>
        </p:txBody>
      </p:sp>
      <p:sp>
        <p:nvSpPr>
          <p:cNvPr id="82" name="Google Shape;82;p15"/>
          <p:cNvSpPr txBox="1"/>
          <p:nvPr/>
        </p:nvSpPr>
        <p:spPr>
          <a:xfrm>
            <a:off x="255075" y="2379700"/>
            <a:ext cx="3867300" cy="463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lang="en" sz="1800">
                <a:solidFill>
                  <a:schemeClr val="dk1"/>
                </a:solidFill>
                <a:latin typeface="Old Standard TT"/>
                <a:ea typeface="Old Standard TT"/>
                <a:cs typeface="Old Standard TT"/>
                <a:sym typeface="Old Standard TT"/>
              </a:rPr>
              <a:t>Diabetes</a:t>
            </a:r>
            <a:endParaRPr sz="1800">
              <a:solidFill>
                <a:schemeClr val="dk1"/>
              </a:solidFill>
              <a:latin typeface="Old Standard TT"/>
              <a:ea typeface="Old Standard TT"/>
              <a:cs typeface="Old Standard TT"/>
              <a:sym typeface="Old Standard TT"/>
            </a:endParaRPr>
          </a:p>
        </p:txBody>
      </p:sp>
      <p:sp>
        <p:nvSpPr>
          <p:cNvPr id="83" name="Google Shape;83;p15"/>
          <p:cNvSpPr txBox="1"/>
          <p:nvPr/>
        </p:nvSpPr>
        <p:spPr>
          <a:xfrm>
            <a:off x="4965000" y="2340900"/>
            <a:ext cx="3867300" cy="463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Old Standard TT"/>
                <a:ea typeface="Old Standard TT"/>
                <a:cs typeface="Old Standard TT"/>
                <a:sym typeface="Old Standard TT"/>
              </a:rPr>
              <a:t>Hypertension</a:t>
            </a:r>
            <a:endParaRPr sz="1800">
              <a:solidFill>
                <a:schemeClr val="dk1"/>
              </a:solidFill>
              <a:latin typeface="Old Standard TT"/>
              <a:ea typeface="Old Standard TT"/>
              <a:cs typeface="Old Standard TT"/>
              <a:sym typeface="Old Standard T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6"/>
          <p:cNvSpPr txBox="1"/>
          <p:nvPr>
            <p:ph type="title"/>
          </p:nvPr>
        </p:nvSpPr>
        <p:spPr>
          <a:xfrm>
            <a:off x="311700" y="54950"/>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Universal Risk Factors</a:t>
            </a:r>
            <a:endParaRPr/>
          </a:p>
        </p:txBody>
      </p:sp>
      <p:sp>
        <p:nvSpPr>
          <p:cNvPr id="89" name="Google Shape;89;p16"/>
          <p:cNvSpPr txBox="1"/>
          <p:nvPr>
            <p:ph idx="1" type="body"/>
          </p:nvPr>
        </p:nvSpPr>
        <p:spPr>
          <a:xfrm>
            <a:off x="311700" y="604650"/>
            <a:ext cx="8520600" cy="33972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SzPts val="1200"/>
              <a:buChar char="●"/>
            </a:pPr>
            <a:r>
              <a:rPr lang="en" sz="1200"/>
              <a:t>Biological Constants</a:t>
            </a:r>
            <a:endParaRPr sz="1200"/>
          </a:p>
          <a:p>
            <a:pPr indent="-304800" lvl="1" marL="914400" rtl="0" algn="l">
              <a:spcBef>
                <a:spcPts val="0"/>
              </a:spcBef>
              <a:spcAft>
                <a:spcPts val="0"/>
              </a:spcAft>
              <a:buSzPts val="1200"/>
              <a:buChar char="○"/>
            </a:pPr>
            <a:r>
              <a:rPr lang="en" sz="1200"/>
              <a:t>Blood Glucose: #1 universal diabetes risk factor</a:t>
            </a:r>
            <a:endParaRPr sz="1200"/>
          </a:p>
          <a:p>
            <a:pPr indent="-304800" lvl="1" marL="914400" rtl="0" algn="l">
              <a:spcBef>
                <a:spcPts val="0"/>
              </a:spcBef>
              <a:spcAft>
                <a:spcPts val="0"/>
              </a:spcAft>
              <a:buSzPts val="1200"/>
              <a:buChar char="○"/>
            </a:pPr>
            <a:r>
              <a:rPr lang="en" sz="1200"/>
              <a:t>Systolic BP: #2 universal hypertension risk factor</a:t>
            </a:r>
            <a:endParaRPr sz="1200"/>
          </a:p>
          <a:p>
            <a:pPr indent="-304800" lvl="0" marL="457200" rtl="0" algn="l">
              <a:spcBef>
                <a:spcPts val="0"/>
              </a:spcBef>
              <a:spcAft>
                <a:spcPts val="0"/>
              </a:spcAft>
              <a:buSzPts val="1200"/>
              <a:buChar char="●"/>
            </a:pPr>
            <a:r>
              <a:rPr lang="en" sz="1200"/>
              <a:t>Behavioral Insights</a:t>
            </a:r>
            <a:endParaRPr sz="1200"/>
          </a:p>
          <a:p>
            <a:pPr indent="-304800" lvl="1" marL="914400" rtl="0" algn="l">
              <a:spcBef>
                <a:spcPts val="0"/>
              </a:spcBef>
              <a:spcAft>
                <a:spcPts val="0"/>
              </a:spcAft>
              <a:buSzPts val="1200"/>
              <a:buChar char="○"/>
            </a:pPr>
            <a:r>
              <a:rPr lang="en" sz="1200"/>
              <a:t>Sedentary Behavior: #1 risk factor for hypertension</a:t>
            </a:r>
            <a:endParaRPr sz="1200"/>
          </a:p>
          <a:p>
            <a:pPr indent="-304800" lvl="1" marL="914400" rtl="0" algn="l">
              <a:spcBef>
                <a:spcPts val="0"/>
              </a:spcBef>
              <a:spcAft>
                <a:spcPts val="0"/>
              </a:spcAft>
              <a:buSzPts val="1200"/>
              <a:buChar char="○"/>
            </a:pPr>
            <a:r>
              <a:rPr lang="en" sz="1200"/>
              <a:t>“Sitting Less” overall is stronger advice than </a:t>
            </a:r>
            <a:r>
              <a:rPr lang="en" sz="1200"/>
              <a:t>“exercising more”</a:t>
            </a:r>
            <a:endParaRPr sz="1200"/>
          </a:p>
          <a:p>
            <a:pPr indent="-304800" lvl="1" marL="914400" rtl="0" algn="l">
              <a:spcBef>
                <a:spcPts val="0"/>
              </a:spcBef>
              <a:spcAft>
                <a:spcPts val="0"/>
              </a:spcAft>
              <a:buSzPts val="1200"/>
              <a:buChar char="○"/>
            </a:pPr>
            <a:r>
              <a:rPr lang="en" sz="1200"/>
              <a:t>To prevent these diseases, we should encourage on a consistently active lifestyle and sitting less rather than simply relying on </a:t>
            </a:r>
            <a:r>
              <a:rPr lang="en" sz="1200"/>
              <a:t>scheduled</a:t>
            </a:r>
            <a:r>
              <a:rPr lang="en" sz="1200"/>
              <a:t> exercise.</a:t>
            </a:r>
            <a:endParaRPr sz="1200"/>
          </a:p>
        </p:txBody>
      </p:sp>
      <p:pic>
        <p:nvPicPr>
          <p:cNvPr id="90" name="Google Shape;90;p16" title="perm_importance_has_diabetes_without_age.png"/>
          <p:cNvPicPr preferRelativeResize="0"/>
          <p:nvPr/>
        </p:nvPicPr>
        <p:blipFill>
          <a:blip r:embed="rId3">
            <a:alphaModFix/>
          </a:blip>
          <a:stretch>
            <a:fillRect/>
          </a:stretch>
        </p:blipFill>
        <p:spPr>
          <a:xfrm>
            <a:off x="410475" y="2476500"/>
            <a:ext cx="3517123" cy="2337324"/>
          </a:xfrm>
          <a:prstGeom prst="rect">
            <a:avLst/>
          </a:prstGeom>
          <a:noFill/>
          <a:ln>
            <a:noFill/>
          </a:ln>
        </p:spPr>
      </p:pic>
      <p:pic>
        <p:nvPicPr>
          <p:cNvPr id="91" name="Google Shape;91;p16" title="perm_importance_has_hypertension_without_age.png"/>
          <p:cNvPicPr preferRelativeResize="0"/>
          <p:nvPr/>
        </p:nvPicPr>
        <p:blipFill>
          <a:blip r:embed="rId4">
            <a:alphaModFix/>
          </a:blip>
          <a:stretch>
            <a:fillRect/>
          </a:stretch>
        </p:blipFill>
        <p:spPr>
          <a:xfrm>
            <a:off x="4677821" y="2571751"/>
            <a:ext cx="3517123" cy="233731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Population-Specific Risk Factors</a:t>
            </a:r>
            <a:endParaRPr/>
          </a:p>
        </p:txBody>
      </p:sp>
      <p:sp>
        <p:nvSpPr>
          <p:cNvPr id="97" name="Google Shape;97;p17"/>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Non-Hispanic White &amp; Non-Mexican Hispanic (Hypertension):</a:t>
            </a:r>
            <a:endParaRPr/>
          </a:p>
          <a:p>
            <a:pPr indent="-317500" lvl="1" marL="914400" rtl="0" algn="l">
              <a:spcBef>
                <a:spcPts val="0"/>
              </a:spcBef>
              <a:spcAft>
                <a:spcPts val="0"/>
              </a:spcAft>
              <a:buSzPts val="1400"/>
              <a:buChar char="○"/>
            </a:pPr>
            <a:r>
              <a:rPr lang="en"/>
              <a:t>Lifestyle choices (Sedentary Behavior + Smoking) dominate permutation importance scores</a:t>
            </a:r>
            <a:endParaRPr/>
          </a:p>
          <a:p>
            <a:pPr indent="-317500" lvl="1" marL="914400" rtl="0" algn="l">
              <a:spcBef>
                <a:spcPts val="0"/>
              </a:spcBef>
              <a:spcAft>
                <a:spcPts val="0"/>
              </a:spcAft>
              <a:buSzPts val="1400"/>
              <a:buChar char="○"/>
            </a:pPr>
            <a:r>
              <a:rPr lang="en"/>
              <a:t>For these groups, smoking prevention programs/campaigns are important in hypertension prevention for these groups</a:t>
            </a:r>
            <a:endParaRPr/>
          </a:p>
        </p:txBody>
      </p:sp>
      <p:pic>
        <p:nvPicPr>
          <p:cNvPr id="98" name="Google Shape;98;p17" title="perm_importance_has_hypertension_non_hispanic_white.png"/>
          <p:cNvPicPr preferRelativeResize="0"/>
          <p:nvPr/>
        </p:nvPicPr>
        <p:blipFill>
          <a:blip r:embed="rId3">
            <a:alphaModFix/>
          </a:blip>
          <a:stretch>
            <a:fillRect/>
          </a:stretch>
        </p:blipFill>
        <p:spPr>
          <a:xfrm>
            <a:off x="264675" y="2668755"/>
            <a:ext cx="3020575" cy="2007318"/>
          </a:xfrm>
          <a:prstGeom prst="rect">
            <a:avLst/>
          </a:prstGeom>
          <a:noFill/>
          <a:ln>
            <a:noFill/>
          </a:ln>
        </p:spPr>
      </p:pic>
      <p:pic>
        <p:nvPicPr>
          <p:cNvPr id="99" name="Google Shape;99;p17" title="perm_importance_has_hypertension_other_hispanic.png"/>
          <p:cNvPicPr preferRelativeResize="0"/>
          <p:nvPr/>
        </p:nvPicPr>
        <p:blipFill>
          <a:blip r:embed="rId4">
            <a:alphaModFix/>
          </a:blip>
          <a:stretch>
            <a:fillRect/>
          </a:stretch>
        </p:blipFill>
        <p:spPr>
          <a:xfrm>
            <a:off x="3834774" y="2668751"/>
            <a:ext cx="3020575" cy="20073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8"/>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6666"/>
              <a:buFont typeface="Arial"/>
              <a:buNone/>
            </a:pPr>
            <a:r>
              <a:rPr lang="en"/>
              <a:t>Population-Specific Risk Factors</a:t>
            </a:r>
            <a:endParaRPr/>
          </a:p>
          <a:p>
            <a:pPr indent="0" lvl="0" marL="0" rtl="0" algn="l">
              <a:spcBef>
                <a:spcPts val="0"/>
              </a:spcBef>
              <a:spcAft>
                <a:spcPts val="0"/>
              </a:spcAft>
              <a:buNone/>
            </a:pPr>
            <a:r>
              <a:t/>
            </a:r>
            <a:endParaRPr/>
          </a:p>
        </p:txBody>
      </p:sp>
      <p:sp>
        <p:nvSpPr>
          <p:cNvPr id="105" name="Google Shape;105;p18"/>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Mexican American &amp; African-American:</a:t>
            </a:r>
            <a:endParaRPr/>
          </a:p>
          <a:p>
            <a:pPr indent="-317500" lvl="1" marL="914400" rtl="0" algn="l">
              <a:spcBef>
                <a:spcPts val="0"/>
              </a:spcBef>
              <a:spcAft>
                <a:spcPts val="0"/>
              </a:spcAft>
              <a:buSzPts val="1400"/>
              <a:buChar char="○"/>
            </a:pPr>
            <a:r>
              <a:rPr lang="en"/>
              <a:t>Poverty Ratio is an important driver for historically marginalized groups</a:t>
            </a:r>
            <a:endParaRPr/>
          </a:p>
          <a:p>
            <a:pPr indent="-317500" lvl="1" marL="914400" rtl="0" algn="l">
              <a:spcBef>
                <a:spcPts val="0"/>
              </a:spcBef>
              <a:spcAft>
                <a:spcPts val="0"/>
              </a:spcAft>
              <a:buSzPts val="1400"/>
              <a:buChar char="○"/>
            </a:pPr>
            <a:r>
              <a:rPr lang="en"/>
              <a:t>Economic support (food assistance, housing stability, etc) can play an especially important part in reducing diabetes &amp; hypertension risk, as it is often a stronger medical intervention than other factors like weight loss</a:t>
            </a:r>
            <a:endParaRPr/>
          </a:p>
        </p:txBody>
      </p:sp>
      <p:pic>
        <p:nvPicPr>
          <p:cNvPr id="106" name="Google Shape;106;p18" title="perm_importance_has_diabetes_mexican_american.png"/>
          <p:cNvPicPr preferRelativeResize="0"/>
          <p:nvPr/>
        </p:nvPicPr>
        <p:blipFill>
          <a:blip r:embed="rId3">
            <a:alphaModFix/>
          </a:blip>
          <a:stretch>
            <a:fillRect/>
          </a:stretch>
        </p:blipFill>
        <p:spPr>
          <a:xfrm>
            <a:off x="426950" y="2695225"/>
            <a:ext cx="3423974" cy="2275401"/>
          </a:xfrm>
          <a:prstGeom prst="rect">
            <a:avLst/>
          </a:prstGeom>
          <a:noFill/>
          <a:ln>
            <a:noFill/>
          </a:ln>
        </p:spPr>
      </p:pic>
      <p:pic>
        <p:nvPicPr>
          <p:cNvPr id="107" name="Google Shape;107;p18" title="perm_importance_has_hypertension_non_hispanic_black.png"/>
          <p:cNvPicPr preferRelativeResize="0"/>
          <p:nvPr/>
        </p:nvPicPr>
        <p:blipFill>
          <a:blip r:embed="rId4">
            <a:alphaModFix/>
          </a:blip>
          <a:stretch>
            <a:fillRect/>
          </a:stretch>
        </p:blipFill>
        <p:spPr>
          <a:xfrm>
            <a:off x="4660275" y="2744201"/>
            <a:ext cx="3276544" cy="21774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9"/>
          <p:cNvSpPr txBox="1"/>
          <p:nvPr>
            <p:ph type="title"/>
          </p:nvPr>
        </p:nvSpPr>
        <p:spPr>
          <a:xfrm>
            <a:off x="512700" y="1893300"/>
            <a:ext cx="8118600" cy="1522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